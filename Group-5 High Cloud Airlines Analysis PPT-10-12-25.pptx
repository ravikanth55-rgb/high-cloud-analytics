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9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72" r:id="rId13"/>
    <p:sldId id="267" r:id="rId14"/>
    <p:sldId id="268" r:id="rId15"/>
    <p:sldId id="26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102" d="100"/>
          <a:sy n="102" d="100"/>
        </p:scale>
        <p:origin x="138"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90E71EC0-E132-41CB-A309-2994DBC5D520}" type="datetimeFigureOut">
              <a:rPr lang="en-IN" smtClean="0"/>
              <a:t>2025-12-09</a:t>
            </a:fld>
            <a:endParaRPr lang="en-IN"/>
          </a:p>
        </p:txBody>
      </p:sp>
      <p:sp>
        <p:nvSpPr>
          <p:cNvPr id="5" name="Footer Placeholder 4"/>
          <p:cNvSpPr>
            <a:spLocks noGrp="1"/>
          </p:cNvSpPr>
          <p:nvPr>
            <p:ph type="ftr" sz="quarter" idx="11"/>
          </p:nvPr>
        </p:nvSpPr>
        <p:spPr>
          <a:xfrm>
            <a:off x="1371600" y="4323845"/>
            <a:ext cx="6400800" cy="365125"/>
          </a:xfrm>
        </p:spPr>
        <p:txBody>
          <a:bodyPr/>
          <a:lstStyle/>
          <a:p>
            <a:endParaRPr lang="en-IN"/>
          </a:p>
        </p:txBody>
      </p:sp>
      <p:sp>
        <p:nvSpPr>
          <p:cNvPr id="6" name="Slide Number Placeholder 5"/>
          <p:cNvSpPr>
            <a:spLocks noGrp="1"/>
          </p:cNvSpPr>
          <p:nvPr>
            <p:ph type="sldNum" sz="quarter" idx="12"/>
          </p:nvPr>
        </p:nvSpPr>
        <p:spPr>
          <a:xfrm>
            <a:off x="8077200" y="1430866"/>
            <a:ext cx="2743200" cy="365125"/>
          </a:xfrm>
        </p:spPr>
        <p:txBody>
          <a:bodyPr/>
          <a:lstStyle/>
          <a:p>
            <a:fld id="{0866B3E8-5ED6-485C-BE41-0732BE9258CE}" type="slidenum">
              <a:rPr lang="en-IN" smtClean="0"/>
              <a:t>‹#›</a:t>
            </a:fld>
            <a:endParaRPr lang="en-IN"/>
          </a:p>
        </p:txBody>
      </p:sp>
    </p:spTree>
    <p:extLst>
      <p:ext uri="{BB962C8B-B14F-4D97-AF65-F5344CB8AC3E}">
        <p14:creationId xmlns:p14="http://schemas.microsoft.com/office/powerpoint/2010/main" val="413853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E71EC0-E132-41CB-A309-2994DBC5D520}" type="datetimeFigureOut">
              <a:rPr lang="en-IN" smtClean="0"/>
              <a:t>2025-12-09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66B3E8-5ED6-485C-BE41-0732BE9258CE}" type="slidenum">
              <a:rPr lang="en-IN" smtClean="0"/>
              <a:t>‹#›</a:t>
            </a:fld>
            <a:endParaRPr lang="en-IN"/>
          </a:p>
        </p:txBody>
      </p:sp>
    </p:spTree>
    <p:extLst>
      <p:ext uri="{BB962C8B-B14F-4D97-AF65-F5344CB8AC3E}">
        <p14:creationId xmlns:p14="http://schemas.microsoft.com/office/powerpoint/2010/main" val="1687109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90E71EC0-E132-41CB-A309-2994DBC5D520}" type="datetimeFigureOut">
              <a:rPr lang="en-IN" smtClean="0"/>
              <a:t>2025-12-09</a:t>
            </a:fld>
            <a:endParaRPr lang="en-IN"/>
          </a:p>
        </p:txBody>
      </p:sp>
      <p:sp>
        <p:nvSpPr>
          <p:cNvPr id="5" name="Footer Placeholder 4"/>
          <p:cNvSpPr>
            <a:spLocks noGrp="1"/>
          </p:cNvSpPr>
          <p:nvPr>
            <p:ph type="ftr" sz="quarter" idx="11"/>
          </p:nvPr>
        </p:nvSpPr>
        <p:spPr>
          <a:xfrm>
            <a:off x="685800" y="381001"/>
            <a:ext cx="6991492" cy="36406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0866B3E8-5ED6-485C-BE41-0732BE9258CE}" type="slidenum">
              <a:rPr lang="en-IN" smtClean="0"/>
              <a:t>‹#›</a:t>
            </a:fld>
            <a:endParaRPr lang="en-IN"/>
          </a:p>
        </p:txBody>
      </p:sp>
    </p:spTree>
    <p:extLst>
      <p:ext uri="{BB962C8B-B14F-4D97-AF65-F5344CB8AC3E}">
        <p14:creationId xmlns:p14="http://schemas.microsoft.com/office/powerpoint/2010/main" val="22329325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0E71EC0-E132-41CB-A309-2994DBC5D520}" type="datetimeFigureOut">
              <a:rPr lang="en-IN" smtClean="0"/>
              <a:t>2025-12-09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866B3E8-5ED6-485C-BE41-0732BE9258CE}" type="slidenum">
              <a:rPr lang="en-IN" smtClean="0"/>
              <a:t>‹#›</a:t>
            </a:fld>
            <a:endParaRPr lang="en-IN"/>
          </a:p>
        </p:txBody>
      </p:sp>
    </p:spTree>
    <p:extLst>
      <p:ext uri="{BB962C8B-B14F-4D97-AF65-F5344CB8AC3E}">
        <p14:creationId xmlns:p14="http://schemas.microsoft.com/office/powerpoint/2010/main" val="4005901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0E71EC0-E132-41CB-A309-2994DBC5D520}" type="datetimeFigureOut">
              <a:rPr lang="en-IN" smtClean="0"/>
              <a:t>2025-12-09</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866B3E8-5ED6-485C-BE41-0732BE9258CE}" type="slidenum">
              <a:rPr lang="en-IN" smtClean="0"/>
              <a:t>‹#›</a:t>
            </a:fld>
            <a:endParaRPr lang="en-IN"/>
          </a:p>
        </p:txBody>
      </p:sp>
    </p:spTree>
    <p:extLst>
      <p:ext uri="{BB962C8B-B14F-4D97-AF65-F5344CB8AC3E}">
        <p14:creationId xmlns:p14="http://schemas.microsoft.com/office/powerpoint/2010/main" val="13286173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0E71EC0-E132-41CB-A309-2994DBC5D520}" type="datetimeFigureOut">
              <a:rPr lang="en-IN" smtClean="0"/>
              <a:t>2025-12-09</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866B3E8-5ED6-485C-BE41-0732BE9258CE}" type="slidenum">
              <a:rPr lang="en-IN" smtClean="0"/>
              <a:t>‹#›</a:t>
            </a:fld>
            <a:endParaRPr lang="en-IN"/>
          </a:p>
        </p:txBody>
      </p:sp>
    </p:spTree>
    <p:extLst>
      <p:ext uri="{BB962C8B-B14F-4D97-AF65-F5344CB8AC3E}">
        <p14:creationId xmlns:p14="http://schemas.microsoft.com/office/powerpoint/2010/main" val="2781068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E71EC0-E132-41CB-A309-2994DBC5D520}" type="datetimeFigureOut">
              <a:rPr lang="en-IN" smtClean="0"/>
              <a:t>2025-12-09</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866B3E8-5ED6-485C-BE41-0732BE9258CE}" type="slidenum">
              <a:rPr lang="en-IN" smtClean="0"/>
              <a:t>‹#›</a:t>
            </a:fld>
            <a:endParaRPr lang="en-IN"/>
          </a:p>
        </p:txBody>
      </p:sp>
    </p:spTree>
    <p:extLst>
      <p:ext uri="{BB962C8B-B14F-4D97-AF65-F5344CB8AC3E}">
        <p14:creationId xmlns:p14="http://schemas.microsoft.com/office/powerpoint/2010/main" val="23063938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0E71EC0-E132-41CB-A309-2994DBC5D520}" type="datetimeFigureOut">
              <a:rPr lang="en-IN" smtClean="0"/>
              <a:t>2025-12-09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866B3E8-5ED6-485C-BE41-0732BE9258CE}" type="slidenum">
              <a:rPr lang="en-IN" smtClean="0"/>
              <a:t>‹#›</a:t>
            </a:fld>
            <a:endParaRPr lang="en-IN"/>
          </a:p>
        </p:txBody>
      </p:sp>
    </p:spTree>
    <p:extLst>
      <p:ext uri="{BB962C8B-B14F-4D97-AF65-F5344CB8AC3E}">
        <p14:creationId xmlns:p14="http://schemas.microsoft.com/office/powerpoint/2010/main" val="2657451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0E71EC0-E132-41CB-A309-2994DBC5D520}" type="datetimeFigureOut">
              <a:rPr lang="en-IN" smtClean="0"/>
              <a:t>2025-12-09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866B3E8-5ED6-485C-BE41-0732BE9258CE}" type="slidenum">
              <a:rPr lang="en-IN" smtClean="0"/>
              <a:t>‹#›</a:t>
            </a:fld>
            <a:endParaRPr lang="en-IN"/>
          </a:p>
        </p:txBody>
      </p:sp>
    </p:spTree>
    <p:extLst>
      <p:ext uri="{BB962C8B-B14F-4D97-AF65-F5344CB8AC3E}">
        <p14:creationId xmlns:p14="http://schemas.microsoft.com/office/powerpoint/2010/main" val="2122983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0E71EC0-E132-41CB-A309-2994DBC5D520}" type="datetimeFigureOut">
              <a:rPr lang="en-IN" smtClean="0"/>
              <a:t>2025-12-09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866B3E8-5ED6-485C-BE41-0732BE9258CE}" type="slidenum">
              <a:rPr lang="en-IN" smtClean="0"/>
              <a:t>‹#›</a:t>
            </a:fld>
            <a:endParaRPr lang="en-IN"/>
          </a:p>
        </p:txBody>
      </p:sp>
    </p:spTree>
    <p:extLst>
      <p:ext uri="{BB962C8B-B14F-4D97-AF65-F5344CB8AC3E}">
        <p14:creationId xmlns:p14="http://schemas.microsoft.com/office/powerpoint/2010/main" val="2629323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90E71EC0-E132-41CB-A309-2994DBC5D520}" type="datetimeFigureOut">
              <a:rPr lang="en-IN" smtClean="0"/>
              <a:t>2025-12-09</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0866B3E8-5ED6-485C-BE41-0732BE9258CE}" type="slidenum">
              <a:rPr lang="en-IN" smtClean="0"/>
              <a:t>‹#›</a:t>
            </a:fld>
            <a:endParaRPr lang="en-IN"/>
          </a:p>
        </p:txBody>
      </p:sp>
    </p:spTree>
    <p:extLst>
      <p:ext uri="{BB962C8B-B14F-4D97-AF65-F5344CB8AC3E}">
        <p14:creationId xmlns:p14="http://schemas.microsoft.com/office/powerpoint/2010/main" val="7485921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90E71EC0-E132-41CB-A309-2994DBC5D520}" type="datetimeFigureOut">
              <a:rPr lang="en-IN" smtClean="0"/>
              <a:t>2025-12-09</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0866B3E8-5ED6-485C-BE41-0732BE9258CE}" type="slidenum">
              <a:rPr lang="en-IN" smtClean="0"/>
              <a:t>‹#›</a:t>
            </a:fld>
            <a:endParaRPr lang="en-IN"/>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3760008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90E71EC0-E132-41CB-A309-2994DBC5D520}" type="datetimeFigureOut">
              <a:rPr lang="en-IN" smtClean="0"/>
              <a:t>2025-12-09</a:t>
            </a:fld>
            <a:endParaRPr lang="en-IN"/>
          </a:p>
        </p:txBody>
      </p:sp>
      <p:sp>
        <p:nvSpPr>
          <p:cNvPr id="6" name="Footer Placeholder 5"/>
          <p:cNvSpPr>
            <a:spLocks noGrp="1"/>
          </p:cNvSpPr>
          <p:nvPr>
            <p:ph type="ftr" sz="quarter" idx="11"/>
          </p:nvPr>
        </p:nvSpPr>
        <p:spPr>
          <a:xfrm>
            <a:off x="685800" y="378883"/>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0866B3E8-5ED6-485C-BE41-0732BE9258CE}" type="slidenum">
              <a:rPr lang="en-IN" smtClean="0"/>
              <a:t>‹#›</a:t>
            </a:fld>
            <a:endParaRPr lang="en-IN"/>
          </a:p>
        </p:txBody>
      </p:sp>
    </p:spTree>
    <p:extLst>
      <p:ext uri="{BB962C8B-B14F-4D97-AF65-F5344CB8AC3E}">
        <p14:creationId xmlns:p14="http://schemas.microsoft.com/office/powerpoint/2010/main" val="22556875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0E71EC0-E132-41CB-A309-2994DBC5D520}" type="datetimeFigureOut">
              <a:rPr lang="en-IN" smtClean="0"/>
              <a:t>2025-12-09</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866B3E8-5ED6-485C-BE41-0732BE9258CE}" type="slidenum">
              <a:rPr lang="en-IN" smtClean="0"/>
              <a:t>‹#›</a:t>
            </a:fld>
            <a:endParaRPr lang="en-IN"/>
          </a:p>
        </p:txBody>
      </p:sp>
    </p:spTree>
    <p:extLst>
      <p:ext uri="{BB962C8B-B14F-4D97-AF65-F5344CB8AC3E}">
        <p14:creationId xmlns:p14="http://schemas.microsoft.com/office/powerpoint/2010/main" val="5137164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0E71EC0-E132-41CB-A309-2994DBC5D520}" type="datetimeFigureOut">
              <a:rPr lang="en-IN" smtClean="0"/>
              <a:t>2025-12-09</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866B3E8-5ED6-485C-BE41-0732BE9258CE}" type="slidenum">
              <a:rPr lang="en-IN" smtClean="0"/>
              <a:t>‹#›</a:t>
            </a:fld>
            <a:endParaRPr lang="en-IN"/>
          </a:p>
        </p:txBody>
      </p:sp>
    </p:spTree>
    <p:extLst>
      <p:ext uri="{BB962C8B-B14F-4D97-AF65-F5344CB8AC3E}">
        <p14:creationId xmlns:p14="http://schemas.microsoft.com/office/powerpoint/2010/main" val="9258512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E71EC0-E132-41CB-A309-2994DBC5D520}" type="datetimeFigureOut">
              <a:rPr lang="en-IN" smtClean="0"/>
              <a:t>2025-12-09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66B3E8-5ED6-485C-BE41-0732BE9258CE}" type="slidenum">
              <a:rPr lang="en-IN" smtClean="0"/>
              <a:t>‹#›</a:t>
            </a:fld>
            <a:endParaRPr lang="en-IN"/>
          </a:p>
        </p:txBody>
      </p:sp>
    </p:spTree>
    <p:extLst>
      <p:ext uri="{BB962C8B-B14F-4D97-AF65-F5344CB8AC3E}">
        <p14:creationId xmlns:p14="http://schemas.microsoft.com/office/powerpoint/2010/main" val="1221653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90E71EC0-E132-41CB-A309-2994DBC5D520}" type="datetimeFigureOut">
              <a:rPr lang="en-IN" smtClean="0"/>
              <a:t>2025-12-09</a:t>
            </a:fld>
            <a:endParaRPr lang="en-IN"/>
          </a:p>
        </p:txBody>
      </p:sp>
      <p:sp>
        <p:nvSpPr>
          <p:cNvPr id="5" name="Footer Placeholder 4"/>
          <p:cNvSpPr>
            <a:spLocks noGrp="1"/>
          </p:cNvSpPr>
          <p:nvPr>
            <p:ph type="ftr" sz="quarter" idx="11"/>
          </p:nvPr>
        </p:nvSpPr>
        <p:spPr>
          <a:xfrm>
            <a:off x="685800" y="381000"/>
            <a:ext cx="6991492" cy="36512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0866B3E8-5ED6-485C-BE41-0732BE9258CE}" type="slidenum">
              <a:rPr lang="en-IN" smtClean="0"/>
              <a:t>‹#›</a:t>
            </a:fld>
            <a:endParaRPr lang="en-IN"/>
          </a:p>
        </p:txBody>
      </p:sp>
    </p:spTree>
    <p:extLst>
      <p:ext uri="{BB962C8B-B14F-4D97-AF65-F5344CB8AC3E}">
        <p14:creationId xmlns:p14="http://schemas.microsoft.com/office/powerpoint/2010/main" val="16397983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3-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0E71EC0-E132-41CB-A309-2994DBC5D520}" type="datetimeFigureOut">
              <a:rPr lang="en-IN" smtClean="0"/>
              <a:t>2025-12-09</a:t>
            </a:fld>
            <a:endParaRPr lang="en-IN"/>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866B3E8-5ED6-485C-BE41-0732BE9258CE}" type="slidenum">
              <a:rPr lang="en-IN" smtClean="0"/>
              <a:t>‹#›</a:t>
            </a:fld>
            <a:endParaRPr lang="en-IN"/>
          </a:p>
        </p:txBody>
      </p:sp>
    </p:spTree>
    <p:extLst>
      <p:ext uri="{BB962C8B-B14F-4D97-AF65-F5344CB8AC3E}">
        <p14:creationId xmlns:p14="http://schemas.microsoft.com/office/powerpoint/2010/main" val="2217062977"/>
      </p:ext>
    </p:extLst>
  </p:cSld>
  <p:clrMap bg1="lt1" tx1="dk1" bg2="lt2" tx2="dk2" accent1="accent1" accent2="accent2" accent3="accent3" accent4="accent4" accent5="accent5" accent6="accent6" hlink="hlink" folHlink="folHlink"/>
  <p:sldLayoutIdLst>
    <p:sldLayoutId id="2147483995" r:id="rId1"/>
    <p:sldLayoutId id="2147483996" r:id="rId2"/>
    <p:sldLayoutId id="2147483997" r:id="rId3"/>
    <p:sldLayoutId id="2147483998" r:id="rId4"/>
    <p:sldLayoutId id="2147483999" r:id="rId5"/>
    <p:sldLayoutId id="2147484000" r:id="rId6"/>
    <p:sldLayoutId id="2147484001" r:id="rId7"/>
    <p:sldLayoutId id="2147484002" r:id="rId8"/>
    <p:sldLayoutId id="2147484003" r:id="rId9"/>
    <p:sldLayoutId id="2147484004" r:id="rId10"/>
    <p:sldLayoutId id="2147484005" r:id="rId11"/>
    <p:sldLayoutId id="2147484006" r:id="rId12"/>
    <p:sldLayoutId id="2147484007" r:id="rId13"/>
    <p:sldLayoutId id="2147484008" r:id="rId14"/>
    <p:sldLayoutId id="2147484009" r:id="rId15"/>
    <p:sldLayoutId id="2147484010" r:id="rId16"/>
    <p:sldLayoutId id="2147484011"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EB2A0-2E8E-CBE8-8D7D-0744DCE6C178}"/>
              </a:ext>
            </a:extLst>
          </p:cNvPr>
          <p:cNvSpPr>
            <a:spLocks noGrp="1"/>
          </p:cNvSpPr>
          <p:nvPr>
            <p:ph type="ctrTitle"/>
          </p:nvPr>
        </p:nvSpPr>
        <p:spPr>
          <a:xfrm>
            <a:off x="450376" y="1803405"/>
            <a:ext cx="11204812" cy="1825096"/>
          </a:xfrm>
        </p:spPr>
        <p:txBody>
          <a:bodyPr>
            <a:normAutofit fontScale="90000"/>
          </a:bodyPr>
          <a:lstStyle/>
          <a:p>
            <a:pPr algn="l"/>
            <a:r>
              <a:rPr lang="en-IN" sz="4000" b="0" i="0" dirty="0">
                <a:solidFill>
                  <a:srgbClr val="1F1F1F"/>
                </a:solidFill>
                <a:effectLst/>
                <a:latin typeface="Google Sans"/>
              </a:rPr>
              <a:t>P1067</a:t>
            </a:r>
            <a:br>
              <a:rPr lang="en-IN" b="0" i="0" dirty="0">
                <a:solidFill>
                  <a:srgbClr val="1F1F1F"/>
                </a:solidFill>
                <a:effectLst/>
                <a:latin typeface="Google Sans"/>
              </a:rPr>
            </a:br>
            <a:r>
              <a:rPr lang="en-IN" dirty="0"/>
              <a:t>High Cloud Airline Analysis</a:t>
            </a:r>
          </a:p>
        </p:txBody>
      </p:sp>
      <p:sp>
        <p:nvSpPr>
          <p:cNvPr id="3" name="Subtitle 2">
            <a:extLst>
              <a:ext uri="{FF2B5EF4-FFF2-40B4-BE49-F238E27FC236}">
                <a16:creationId xmlns:a16="http://schemas.microsoft.com/office/drawing/2014/main" id="{292D6503-AA54-C666-8C94-7FDEF24DC1F2}"/>
              </a:ext>
            </a:extLst>
          </p:cNvPr>
          <p:cNvSpPr>
            <a:spLocks noGrp="1"/>
          </p:cNvSpPr>
          <p:nvPr>
            <p:ph type="subTitle" idx="1"/>
          </p:nvPr>
        </p:nvSpPr>
        <p:spPr>
          <a:xfrm>
            <a:off x="3243618" y="5104263"/>
            <a:ext cx="2256430" cy="808629"/>
          </a:xfrm>
        </p:spPr>
        <p:txBody>
          <a:bodyPr>
            <a:normAutofit fontScale="85000" lnSpcReduction="20000"/>
          </a:bodyPr>
          <a:lstStyle/>
          <a:p>
            <a:r>
              <a:rPr lang="en-US" b="1" dirty="0"/>
              <a:t>Presented by </a:t>
            </a:r>
          </a:p>
          <a:p>
            <a:br>
              <a:rPr lang="en-US" b="1" dirty="0"/>
            </a:br>
            <a:r>
              <a:rPr lang="en-US" b="1" dirty="0"/>
              <a:t>Group-5</a:t>
            </a:r>
            <a:endParaRPr lang="en-IN" b="1" dirty="0"/>
          </a:p>
        </p:txBody>
      </p:sp>
    </p:spTree>
    <p:extLst>
      <p:ext uri="{BB962C8B-B14F-4D97-AF65-F5344CB8AC3E}">
        <p14:creationId xmlns:p14="http://schemas.microsoft.com/office/powerpoint/2010/main" val="42451031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B3C48-33EC-D0BF-2250-CD4A2A2A06E8}"/>
              </a:ext>
            </a:extLst>
          </p:cNvPr>
          <p:cNvSpPr>
            <a:spLocks noGrp="1"/>
          </p:cNvSpPr>
          <p:nvPr>
            <p:ph type="title"/>
          </p:nvPr>
        </p:nvSpPr>
        <p:spPr/>
        <p:txBody>
          <a:bodyPr/>
          <a:lstStyle/>
          <a:p>
            <a:r>
              <a:rPr lang="en-US" dirty="0"/>
              <a:t>Our Team Members</a:t>
            </a:r>
            <a:endParaRPr lang="en-IN" dirty="0"/>
          </a:p>
        </p:txBody>
      </p:sp>
      <p:sp>
        <p:nvSpPr>
          <p:cNvPr id="3" name="Content Placeholder 2">
            <a:extLst>
              <a:ext uri="{FF2B5EF4-FFF2-40B4-BE49-F238E27FC236}">
                <a16:creationId xmlns:a16="http://schemas.microsoft.com/office/drawing/2014/main" id="{D8BD2953-2472-43E0-C9E6-CB65AE886081}"/>
              </a:ext>
            </a:extLst>
          </p:cNvPr>
          <p:cNvSpPr>
            <a:spLocks noGrp="1"/>
          </p:cNvSpPr>
          <p:nvPr>
            <p:ph idx="1"/>
          </p:nvPr>
        </p:nvSpPr>
        <p:spPr/>
        <p:txBody>
          <a:bodyPr>
            <a:normAutofit fontScale="92500" lnSpcReduction="10000"/>
          </a:bodyPr>
          <a:lstStyle/>
          <a:p>
            <a:pPr algn="just">
              <a:lnSpc>
                <a:spcPct val="150000"/>
              </a:lnSpc>
            </a:pPr>
            <a:r>
              <a:rPr lang="en-IN" b="0" i="0" dirty="0">
                <a:effectLst/>
                <a:latin typeface="Calibri" panose="020F0502020204030204" pitchFamily="34" charset="0"/>
              </a:rPr>
              <a:t>Ayush Sandeep </a:t>
            </a:r>
            <a:r>
              <a:rPr lang="en-IN" b="0" i="0" dirty="0" err="1">
                <a:effectLst/>
                <a:latin typeface="Calibri" panose="020F0502020204030204" pitchFamily="34" charset="0"/>
              </a:rPr>
              <a:t>Firke</a:t>
            </a:r>
            <a:endParaRPr lang="en-IN" b="0" i="0" dirty="0">
              <a:effectLst/>
              <a:latin typeface="Calibri" panose="020F0502020204030204" pitchFamily="34" charset="0"/>
            </a:endParaRPr>
          </a:p>
          <a:p>
            <a:pPr algn="just">
              <a:lnSpc>
                <a:spcPct val="150000"/>
              </a:lnSpc>
            </a:pPr>
            <a:r>
              <a:rPr lang="en-IN" b="0" i="0" dirty="0">
                <a:effectLst/>
                <a:latin typeface="Calibri" panose="020F0502020204030204" pitchFamily="34" charset="0"/>
              </a:rPr>
              <a:t>Laxmi Basavaraj </a:t>
            </a:r>
            <a:r>
              <a:rPr lang="en-IN" b="0" i="0" dirty="0" err="1">
                <a:effectLst/>
                <a:latin typeface="Calibri" panose="020F0502020204030204" pitchFamily="34" charset="0"/>
              </a:rPr>
              <a:t>Byahatti</a:t>
            </a:r>
            <a:endParaRPr lang="en-IN" b="0" i="0" dirty="0">
              <a:effectLst/>
              <a:latin typeface="Calibri" panose="020F0502020204030204" pitchFamily="34" charset="0"/>
            </a:endParaRPr>
          </a:p>
          <a:p>
            <a:pPr algn="just">
              <a:lnSpc>
                <a:spcPct val="150000"/>
              </a:lnSpc>
            </a:pPr>
            <a:r>
              <a:rPr lang="en-IN" b="0" i="0" dirty="0">
                <a:effectLst/>
                <a:latin typeface="Calibri" panose="020F0502020204030204" pitchFamily="34" charset="0"/>
              </a:rPr>
              <a:t>Tanay Nagar</a:t>
            </a:r>
          </a:p>
          <a:p>
            <a:pPr algn="just">
              <a:lnSpc>
                <a:spcPct val="150000"/>
              </a:lnSpc>
            </a:pPr>
            <a:r>
              <a:rPr lang="en-IN" b="0" i="0" dirty="0" err="1">
                <a:effectLst/>
                <a:latin typeface="Calibri" panose="020F0502020204030204" pitchFamily="34" charset="0"/>
              </a:rPr>
              <a:t>Hotkar</a:t>
            </a:r>
            <a:r>
              <a:rPr lang="en-IN" b="0" i="0" dirty="0">
                <a:effectLst/>
                <a:latin typeface="Calibri" panose="020F0502020204030204" pitchFamily="34" charset="0"/>
              </a:rPr>
              <a:t> Ashish</a:t>
            </a:r>
            <a:endParaRPr lang="en-IN" dirty="0">
              <a:latin typeface="Calibri" panose="020F0502020204030204" pitchFamily="34" charset="0"/>
            </a:endParaRPr>
          </a:p>
          <a:p>
            <a:pPr algn="just">
              <a:lnSpc>
                <a:spcPct val="150000"/>
              </a:lnSpc>
            </a:pPr>
            <a:r>
              <a:rPr lang="en-IN" b="0" i="0" dirty="0" err="1">
                <a:effectLst/>
                <a:latin typeface="Calibri" panose="020F0502020204030204" pitchFamily="34" charset="0"/>
              </a:rPr>
              <a:t>Geddamuri</a:t>
            </a:r>
            <a:r>
              <a:rPr lang="en-IN" b="0" i="0" dirty="0">
                <a:effectLst/>
                <a:latin typeface="Calibri" panose="020F0502020204030204" pitchFamily="34" charset="0"/>
              </a:rPr>
              <a:t> Sri Sai</a:t>
            </a:r>
          </a:p>
          <a:p>
            <a:pPr algn="just">
              <a:lnSpc>
                <a:spcPct val="150000"/>
              </a:lnSpc>
            </a:pPr>
            <a:r>
              <a:rPr lang="en-IN" b="0" i="0" dirty="0">
                <a:effectLst/>
                <a:latin typeface="Calibri" panose="020F0502020204030204" pitchFamily="34" charset="0"/>
              </a:rPr>
              <a:t>SANTANU KARMAKAR</a:t>
            </a:r>
            <a:endParaRPr lang="en-IN" dirty="0">
              <a:latin typeface="Calibri" panose="020F0502020204030204" pitchFamily="34" charset="0"/>
            </a:endParaRPr>
          </a:p>
          <a:p>
            <a:pPr algn="just">
              <a:lnSpc>
                <a:spcPct val="150000"/>
              </a:lnSpc>
            </a:pPr>
            <a:r>
              <a:rPr lang="en-IN" b="0" i="0" dirty="0">
                <a:effectLst/>
                <a:latin typeface="Calibri" panose="020F0502020204030204" pitchFamily="34" charset="0"/>
              </a:rPr>
              <a:t>Ravi </a:t>
            </a:r>
            <a:r>
              <a:rPr lang="en-IN" b="0" i="0" dirty="0" err="1">
                <a:effectLst/>
                <a:latin typeface="Calibri" panose="020F0502020204030204" pitchFamily="34" charset="0"/>
              </a:rPr>
              <a:t>kanth</a:t>
            </a:r>
            <a:endParaRPr lang="en-IN" b="0" i="0" dirty="0">
              <a:effectLst/>
              <a:latin typeface="Calibri" panose="020F0502020204030204" pitchFamily="34" charset="0"/>
            </a:endParaRPr>
          </a:p>
          <a:p>
            <a:endParaRPr lang="en-IN" dirty="0"/>
          </a:p>
        </p:txBody>
      </p:sp>
    </p:spTree>
    <p:extLst>
      <p:ext uri="{BB962C8B-B14F-4D97-AF65-F5344CB8AC3E}">
        <p14:creationId xmlns:p14="http://schemas.microsoft.com/office/powerpoint/2010/main" val="7688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D9EBF-E01C-794F-BC3C-8929305CF1C8}"/>
              </a:ext>
            </a:extLst>
          </p:cNvPr>
          <p:cNvSpPr>
            <a:spLocks noGrp="1"/>
          </p:cNvSpPr>
          <p:nvPr>
            <p:ph type="title"/>
          </p:nvPr>
        </p:nvSpPr>
        <p:spPr/>
        <p:txBody>
          <a:bodyPr/>
          <a:lstStyle/>
          <a:p>
            <a:r>
              <a:rPr lang="en-US" dirty="0"/>
              <a:t>Contents</a:t>
            </a:r>
            <a:endParaRPr lang="en-IN" dirty="0"/>
          </a:p>
        </p:txBody>
      </p:sp>
      <p:sp>
        <p:nvSpPr>
          <p:cNvPr id="3" name="Content Placeholder 2">
            <a:extLst>
              <a:ext uri="{FF2B5EF4-FFF2-40B4-BE49-F238E27FC236}">
                <a16:creationId xmlns:a16="http://schemas.microsoft.com/office/drawing/2014/main" id="{C64A18EB-62CF-A53B-C779-CE679AAEF52F}"/>
              </a:ext>
            </a:extLst>
          </p:cNvPr>
          <p:cNvSpPr>
            <a:spLocks noGrp="1"/>
          </p:cNvSpPr>
          <p:nvPr>
            <p:ph idx="1"/>
          </p:nvPr>
        </p:nvSpPr>
        <p:spPr/>
        <p:txBody>
          <a:bodyPr/>
          <a:lstStyle/>
          <a:p>
            <a:pPr algn="just">
              <a:lnSpc>
                <a:spcPct val="150000"/>
              </a:lnSpc>
            </a:pPr>
            <a:r>
              <a:rPr lang="en-US" dirty="0"/>
              <a:t>Introduction</a:t>
            </a:r>
          </a:p>
          <a:p>
            <a:pPr algn="just">
              <a:lnSpc>
                <a:spcPct val="150000"/>
              </a:lnSpc>
            </a:pPr>
            <a:r>
              <a:rPr lang="en-US" dirty="0"/>
              <a:t>Business Overview</a:t>
            </a:r>
          </a:p>
          <a:p>
            <a:pPr algn="just">
              <a:lnSpc>
                <a:spcPct val="150000"/>
              </a:lnSpc>
            </a:pPr>
            <a:r>
              <a:rPr lang="en-US" dirty="0"/>
              <a:t>Project Scope</a:t>
            </a:r>
          </a:p>
          <a:p>
            <a:pPr algn="just">
              <a:lnSpc>
                <a:spcPct val="150000"/>
              </a:lnSpc>
            </a:pPr>
            <a:r>
              <a:rPr lang="en-US" dirty="0"/>
              <a:t>Data Model Challenges</a:t>
            </a:r>
          </a:p>
          <a:p>
            <a:pPr algn="just">
              <a:lnSpc>
                <a:spcPct val="150000"/>
              </a:lnSpc>
            </a:pPr>
            <a:r>
              <a:rPr lang="en-US" dirty="0"/>
              <a:t>Dashboard Overview</a:t>
            </a:r>
          </a:p>
          <a:p>
            <a:pPr algn="just">
              <a:lnSpc>
                <a:spcPct val="150000"/>
              </a:lnSpc>
            </a:pPr>
            <a:r>
              <a:rPr lang="en-US" dirty="0"/>
              <a:t>Suggestions and comments</a:t>
            </a:r>
            <a:endParaRPr lang="en-IN" dirty="0"/>
          </a:p>
        </p:txBody>
      </p:sp>
    </p:spTree>
    <p:extLst>
      <p:ext uri="{BB962C8B-B14F-4D97-AF65-F5344CB8AC3E}">
        <p14:creationId xmlns:p14="http://schemas.microsoft.com/office/powerpoint/2010/main" val="2833263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68591-41BB-D1E9-B181-25BD88E1371B}"/>
              </a:ext>
            </a:extLst>
          </p:cNvPr>
          <p:cNvSpPr>
            <a:spLocks noGrp="1"/>
          </p:cNvSpPr>
          <p:nvPr>
            <p:ph type="title"/>
          </p:nvPr>
        </p:nvSpPr>
        <p:spPr/>
        <p:txBody>
          <a:bodyPr/>
          <a:lstStyle/>
          <a:p>
            <a:pPr algn="ctr"/>
            <a:r>
              <a:rPr lang="en-US" dirty="0"/>
              <a:t>Objective</a:t>
            </a:r>
            <a:endParaRPr lang="en-IN" dirty="0"/>
          </a:p>
        </p:txBody>
      </p:sp>
      <p:sp>
        <p:nvSpPr>
          <p:cNvPr id="3" name="Content Placeholder 2">
            <a:extLst>
              <a:ext uri="{FF2B5EF4-FFF2-40B4-BE49-F238E27FC236}">
                <a16:creationId xmlns:a16="http://schemas.microsoft.com/office/drawing/2014/main" id="{856AF704-3D56-3B69-62E3-B4873B286A25}"/>
              </a:ext>
            </a:extLst>
          </p:cNvPr>
          <p:cNvSpPr>
            <a:spLocks noGrp="1"/>
          </p:cNvSpPr>
          <p:nvPr>
            <p:ph idx="1"/>
          </p:nvPr>
        </p:nvSpPr>
        <p:spPr/>
        <p:txBody>
          <a:bodyPr/>
          <a:lstStyle/>
          <a:p>
            <a:pPr marL="0" indent="0" algn="just">
              <a:lnSpc>
                <a:spcPct val="150000"/>
              </a:lnSpc>
              <a:buNone/>
            </a:pPr>
            <a:r>
              <a:rPr lang="en-US" dirty="0"/>
              <a:t>To gain a comprehensive understanding of “High Cloud Airlines”  operation through data analysis. This will involve investigation load factor, identifying top carrier names based on passenger preference, analyzing popular routes, and exploring other key metrics. The ultimate goal is to provide actionable recommendations that can enhance operational efficiency and profitability.</a:t>
            </a:r>
            <a:endParaRPr lang="en-IN" dirty="0"/>
          </a:p>
        </p:txBody>
      </p:sp>
    </p:spTree>
    <p:extLst>
      <p:ext uri="{BB962C8B-B14F-4D97-AF65-F5344CB8AC3E}">
        <p14:creationId xmlns:p14="http://schemas.microsoft.com/office/powerpoint/2010/main" val="685908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72643-4FE3-8555-3C1A-F6E6D2A71D02}"/>
              </a:ext>
            </a:extLst>
          </p:cNvPr>
          <p:cNvSpPr>
            <a:spLocks noGrp="1"/>
          </p:cNvSpPr>
          <p:nvPr>
            <p:ph type="title"/>
          </p:nvPr>
        </p:nvSpPr>
        <p:spPr/>
        <p:txBody>
          <a:bodyPr/>
          <a:lstStyle/>
          <a:p>
            <a:pPr algn="ctr"/>
            <a:r>
              <a:rPr lang="en-US" dirty="0"/>
              <a:t>Business Overview</a:t>
            </a:r>
            <a:endParaRPr lang="en-IN" dirty="0"/>
          </a:p>
        </p:txBody>
      </p:sp>
      <p:sp>
        <p:nvSpPr>
          <p:cNvPr id="3" name="Content Placeholder 2">
            <a:extLst>
              <a:ext uri="{FF2B5EF4-FFF2-40B4-BE49-F238E27FC236}">
                <a16:creationId xmlns:a16="http://schemas.microsoft.com/office/drawing/2014/main" id="{85D8472B-F2EB-44E5-50AE-18156C8FD3C6}"/>
              </a:ext>
            </a:extLst>
          </p:cNvPr>
          <p:cNvSpPr>
            <a:spLocks noGrp="1"/>
          </p:cNvSpPr>
          <p:nvPr>
            <p:ph idx="1"/>
          </p:nvPr>
        </p:nvSpPr>
        <p:spPr>
          <a:xfrm>
            <a:off x="545910" y="2210937"/>
            <a:ext cx="10960290" cy="4294351"/>
          </a:xfrm>
        </p:spPr>
        <p:txBody>
          <a:bodyPr>
            <a:normAutofit fontScale="55000" lnSpcReduction="20000"/>
          </a:bodyPr>
          <a:lstStyle/>
          <a:p>
            <a:pPr marL="0" indent="0" algn="just">
              <a:lnSpc>
                <a:spcPct val="170000"/>
              </a:lnSpc>
              <a:buNone/>
            </a:pPr>
            <a:r>
              <a:rPr lang="en-US" sz="3100" dirty="0"/>
              <a:t>In today’s competitive airline industry, data analysis plays a critical role in optimizing operations and maximizing profitability. By harnessing the power of data, High Cloud Airlines can gain valuable insights into various aspects of its business, allowing them to make data-driven decisions that can lead to</a:t>
            </a:r>
          </a:p>
          <a:p>
            <a:pPr marL="0" indent="0" algn="just">
              <a:lnSpc>
                <a:spcPct val="170000"/>
              </a:lnSpc>
              <a:buNone/>
            </a:pPr>
            <a:endParaRPr lang="en-US" sz="3100" dirty="0"/>
          </a:p>
          <a:p>
            <a:pPr algn="just">
              <a:lnSpc>
                <a:spcPct val="170000"/>
              </a:lnSpc>
            </a:pPr>
            <a:r>
              <a:rPr lang="en-US" sz="3100" dirty="0"/>
              <a:t>Improves load Factor</a:t>
            </a:r>
          </a:p>
          <a:p>
            <a:pPr algn="just">
              <a:lnSpc>
                <a:spcPct val="170000"/>
              </a:lnSpc>
            </a:pPr>
            <a:r>
              <a:rPr lang="en-US" sz="3100" dirty="0"/>
              <a:t>Enhanced Passenger Experience</a:t>
            </a:r>
          </a:p>
          <a:p>
            <a:pPr algn="just">
              <a:lnSpc>
                <a:spcPct val="170000"/>
              </a:lnSpc>
            </a:pPr>
            <a:r>
              <a:rPr lang="en-US" sz="3100" dirty="0"/>
              <a:t>Optimized Resource Allocation</a:t>
            </a:r>
          </a:p>
          <a:p>
            <a:pPr algn="just">
              <a:lnSpc>
                <a:spcPct val="170000"/>
              </a:lnSpc>
            </a:pPr>
            <a:r>
              <a:rPr lang="en-US" sz="3100" dirty="0"/>
              <a:t>Data-Driven Decision Making</a:t>
            </a:r>
          </a:p>
          <a:p>
            <a:endParaRPr lang="en-IN" dirty="0"/>
          </a:p>
          <a:p>
            <a:endParaRPr lang="en-IN" dirty="0"/>
          </a:p>
        </p:txBody>
      </p:sp>
    </p:spTree>
    <p:extLst>
      <p:ext uri="{BB962C8B-B14F-4D97-AF65-F5344CB8AC3E}">
        <p14:creationId xmlns:p14="http://schemas.microsoft.com/office/powerpoint/2010/main" val="4160203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A9E9E-D2F7-052F-5C33-975E4C237CD5}"/>
              </a:ext>
            </a:extLst>
          </p:cNvPr>
          <p:cNvSpPr>
            <a:spLocks noGrp="1"/>
          </p:cNvSpPr>
          <p:nvPr>
            <p:ph type="title"/>
          </p:nvPr>
        </p:nvSpPr>
        <p:spPr/>
        <p:txBody>
          <a:bodyPr/>
          <a:lstStyle/>
          <a:p>
            <a:pPr algn="ctr"/>
            <a:r>
              <a:rPr lang="en-US" dirty="0"/>
              <a:t>Project Scope</a:t>
            </a:r>
            <a:endParaRPr lang="en-IN" dirty="0"/>
          </a:p>
        </p:txBody>
      </p:sp>
      <p:sp>
        <p:nvSpPr>
          <p:cNvPr id="3" name="Content Placeholder 2">
            <a:extLst>
              <a:ext uri="{FF2B5EF4-FFF2-40B4-BE49-F238E27FC236}">
                <a16:creationId xmlns:a16="http://schemas.microsoft.com/office/drawing/2014/main" id="{3C760247-F383-76A6-065B-2BD4BDDC1662}"/>
              </a:ext>
            </a:extLst>
          </p:cNvPr>
          <p:cNvSpPr>
            <a:spLocks noGrp="1"/>
          </p:cNvSpPr>
          <p:nvPr>
            <p:ph idx="1"/>
          </p:nvPr>
        </p:nvSpPr>
        <p:spPr>
          <a:xfrm>
            <a:off x="685800" y="2194560"/>
            <a:ext cx="10820400" cy="4424604"/>
          </a:xfrm>
        </p:spPr>
        <p:txBody>
          <a:bodyPr>
            <a:normAutofit fontScale="92500" lnSpcReduction="20000"/>
          </a:bodyPr>
          <a:lstStyle/>
          <a:p>
            <a:pPr marL="0" indent="0" algn="just">
              <a:lnSpc>
                <a:spcPct val="150000"/>
              </a:lnSpc>
              <a:buNone/>
            </a:pPr>
            <a:r>
              <a:rPr lang="en-US" dirty="0"/>
              <a:t>This Project aimed to leverage the power of data analysis and extract valuable insights to optimize High Cloud Airlines operations and performance. The specific scope of project focused on analyzing key performance indicators(KPIs) to gain a deeper understanding of :</a:t>
            </a:r>
          </a:p>
          <a:p>
            <a:pPr marL="0" indent="0" algn="just">
              <a:lnSpc>
                <a:spcPct val="150000"/>
              </a:lnSpc>
              <a:buNone/>
            </a:pPr>
            <a:endParaRPr lang="en-US" dirty="0"/>
          </a:p>
          <a:p>
            <a:pPr algn="just">
              <a:lnSpc>
                <a:spcPct val="150000"/>
              </a:lnSpc>
            </a:pPr>
            <a:r>
              <a:rPr lang="en-US" dirty="0"/>
              <a:t>Load Factor</a:t>
            </a:r>
          </a:p>
          <a:p>
            <a:pPr algn="just">
              <a:lnSpc>
                <a:spcPct val="150000"/>
              </a:lnSpc>
            </a:pPr>
            <a:r>
              <a:rPr lang="en-US" dirty="0"/>
              <a:t>Passenger Preferences</a:t>
            </a:r>
          </a:p>
          <a:p>
            <a:pPr algn="just">
              <a:lnSpc>
                <a:spcPct val="150000"/>
              </a:lnSpc>
            </a:pPr>
            <a:r>
              <a:rPr lang="en-US" dirty="0"/>
              <a:t>Popular Routes</a:t>
            </a:r>
          </a:p>
          <a:p>
            <a:pPr algn="just">
              <a:lnSpc>
                <a:spcPct val="150000"/>
              </a:lnSpc>
            </a:pPr>
            <a:r>
              <a:rPr lang="en-US" dirty="0"/>
              <a:t>Operational Efficiency</a:t>
            </a:r>
            <a:endParaRPr lang="en-IN" dirty="0"/>
          </a:p>
        </p:txBody>
      </p:sp>
    </p:spTree>
    <p:extLst>
      <p:ext uri="{BB962C8B-B14F-4D97-AF65-F5344CB8AC3E}">
        <p14:creationId xmlns:p14="http://schemas.microsoft.com/office/powerpoint/2010/main" val="2549193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966A8-C02C-B948-094B-E5E8B1FC542A}"/>
              </a:ext>
            </a:extLst>
          </p:cNvPr>
          <p:cNvSpPr>
            <a:spLocks noGrp="1"/>
          </p:cNvSpPr>
          <p:nvPr>
            <p:ph type="title"/>
          </p:nvPr>
        </p:nvSpPr>
        <p:spPr/>
        <p:txBody>
          <a:bodyPr/>
          <a:lstStyle/>
          <a:p>
            <a:pPr algn="ctr"/>
            <a:r>
              <a:rPr lang="en-US" dirty="0"/>
              <a:t>Data Model Challengers</a:t>
            </a:r>
            <a:endParaRPr lang="en-IN" dirty="0"/>
          </a:p>
        </p:txBody>
      </p:sp>
      <p:sp>
        <p:nvSpPr>
          <p:cNvPr id="3" name="Content Placeholder 2">
            <a:extLst>
              <a:ext uri="{FF2B5EF4-FFF2-40B4-BE49-F238E27FC236}">
                <a16:creationId xmlns:a16="http://schemas.microsoft.com/office/drawing/2014/main" id="{7E164A14-35F5-1B79-D187-D97150320575}"/>
              </a:ext>
            </a:extLst>
          </p:cNvPr>
          <p:cNvSpPr>
            <a:spLocks noGrp="1"/>
          </p:cNvSpPr>
          <p:nvPr>
            <p:ph idx="1"/>
          </p:nvPr>
        </p:nvSpPr>
        <p:spPr/>
        <p:txBody>
          <a:bodyPr>
            <a:normAutofit lnSpcReduction="10000"/>
          </a:bodyPr>
          <a:lstStyle/>
          <a:p>
            <a:pPr marL="0" indent="0" algn="just">
              <a:lnSpc>
                <a:spcPct val="150000"/>
              </a:lnSpc>
              <a:buNone/>
            </a:pPr>
            <a:r>
              <a:rPr lang="en-US" dirty="0"/>
              <a:t>Throughout our analysis, we encountered various challengers in handling the data. Overcoming these challenges is crucial for accurate insights.</a:t>
            </a:r>
          </a:p>
          <a:p>
            <a:pPr marL="0" indent="0" algn="just">
              <a:lnSpc>
                <a:spcPct val="150000"/>
              </a:lnSpc>
              <a:buNone/>
            </a:pPr>
            <a:endParaRPr lang="en-US" dirty="0"/>
          </a:p>
          <a:p>
            <a:pPr algn="just">
              <a:lnSpc>
                <a:spcPct val="150000"/>
              </a:lnSpc>
            </a:pPr>
            <a:r>
              <a:rPr lang="en-US" dirty="0"/>
              <a:t>Data Volume : Managing and processing large datasets efficiency.</a:t>
            </a:r>
          </a:p>
          <a:p>
            <a:pPr algn="just">
              <a:lnSpc>
                <a:spcPct val="150000"/>
              </a:lnSpc>
            </a:pPr>
            <a:r>
              <a:rPr lang="en-IN" dirty="0"/>
              <a:t>Data Quality : Ensuring accuracy and reliability of the data.</a:t>
            </a:r>
          </a:p>
          <a:p>
            <a:pPr algn="just">
              <a:lnSpc>
                <a:spcPct val="150000"/>
              </a:lnSpc>
            </a:pPr>
            <a:r>
              <a:rPr lang="en-IN" dirty="0"/>
              <a:t>Complex Relationships : Establishing connections between different data points.</a:t>
            </a:r>
          </a:p>
        </p:txBody>
      </p:sp>
    </p:spTree>
    <p:extLst>
      <p:ext uri="{BB962C8B-B14F-4D97-AF65-F5344CB8AC3E}">
        <p14:creationId xmlns:p14="http://schemas.microsoft.com/office/powerpoint/2010/main" val="2874976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3561D-0C5E-95D2-7A11-C7783BE13708}"/>
              </a:ext>
            </a:extLst>
          </p:cNvPr>
          <p:cNvSpPr>
            <a:spLocks noGrp="1"/>
          </p:cNvSpPr>
          <p:nvPr>
            <p:ph type="title"/>
          </p:nvPr>
        </p:nvSpPr>
        <p:spPr>
          <a:xfrm>
            <a:off x="838200" y="2766218"/>
            <a:ext cx="10515600" cy="1325563"/>
          </a:xfrm>
        </p:spPr>
        <p:txBody>
          <a:bodyPr/>
          <a:lstStyle/>
          <a:p>
            <a:r>
              <a:rPr lang="en-US" dirty="0"/>
              <a:t>Dashboards</a:t>
            </a:r>
            <a:endParaRPr lang="en-IN" dirty="0"/>
          </a:p>
        </p:txBody>
      </p:sp>
    </p:spTree>
    <p:extLst>
      <p:ext uri="{BB962C8B-B14F-4D97-AF65-F5344CB8AC3E}">
        <p14:creationId xmlns:p14="http://schemas.microsoft.com/office/powerpoint/2010/main" val="1758928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excel dashboard.png">
            <a:extLst>
              <a:ext uri="{FF2B5EF4-FFF2-40B4-BE49-F238E27FC236}">
                <a16:creationId xmlns:a16="http://schemas.microsoft.com/office/drawing/2014/main" id="{43065783-345E-0801-2022-7A468B6A9A61}"/>
              </a:ext>
            </a:extLst>
          </p:cNvPr>
          <p:cNvPicPr>
            <a:picLocks noChangeAspect="1"/>
          </p:cNvPicPr>
          <p:nvPr/>
        </p:nvPicPr>
        <p:blipFill>
          <a:blip r:embed="rId2"/>
          <a:stretch>
            <a:fillRect/>
          </a:stretch>
        </p:blipFill>
        <p:spPr>
          <a:xfrm>
            <a:off x="2121030" y="1147137"/>
            <a:ext cx="10070969" cy="5710864"/>
          </a:xfrm>
          <a:prstGeom prst="rect">
            <a:avLst/>
          </a:prstGeom>
        </p:spPr>
      </p:pic>
      <p:sp>
        <p:nvSpPr>
          <p:cNvPr id="2" name="TextBox 1">
            <a:extLst>
              <a:ext uri="{FF2B5EF4-FFF2-40B4-BE49-F238E27FC236}">
                <a16:creationId xmlns:a16="http://schemas.microsoft.com/office/drawing/2014/main" id="{E34CBBC0-8401-A047-0823-97BA9E9D8D91}"/>
              </a:ext>
            </a:extLst>
          </p:cNvPr>
          <p:cNvSpPr txBox="1"/>
          <p:nvPr/>
        </p:nvSpPr>
        <p:spPr>
          <a:xfrm>
            <a:off x="111094" y="658026"/>
            <a:ext cx="2384277" cy="646331"/>
          </a:xfrm>
          <a:prstGeom prst="rect">
            <a:avLst/>
          </a:prstGeom>
          <a:noFill/>
        </p:spPr>
        <p:txBody>
          <a:bodyPr wrap="square" rtlCol="0">
            <a:spAutoFit/>
          </a:bodyPr>
          <a:lstStyle/>
          <a:p>
            <a:r>
              <a:rPr lang="en-IN" sz="1800" b="1" dirty="0">
                <a:latin typeface="+mj-lt"/>
              </a:rPr>
              <a:t>Excel Dashboard</a:t>
            </a:r>
          </a:p>
          <a:p>
            <a:endParaRPr lang="en-IN" dirty="0"/>
          </a:p>
        </p:txBody>
      </p:sp>
    </p:spTree>
    <p:extLst>
      <p:ext uri="{BB962C8B-B14F-4D97-AF65-F5344CB8AC3E}">
        <p14:creationId xmlns:p14="http://schemas.microsoft.com/office/powerpoint/2010/main" val="36100947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owerbi.png">
            <a:extLst>
              <a:ext uri="{FF2B5EF4-FFF2-40B4-BE49-F238E27FC236}">
                <a16:creationId xmlns:a16="http://schemas.microsoft.com/office/drawing/2014/main" id="{350C9D06-7785-A7CA-D33C-C43F8B072576}"/>
              </a:ext>
            </a:extLst>
          </p:cNvPr>
          <p:cNvPicPr>
            <a:picLocks noChangeAspect="1"/>
          </p:cNvPicPr>
          <p:nvPr/>
        </p:nvPicPr>
        <p:blipFill>
          <a:blip r:embed="rId2"/>
          <a:stretch>
            <a:fillRect/>
          </a:stretch>
        </p:blipFill>
        <p:spPr>
          <a:xfrm>
            <a:off x="2131428" y="1059260"/>
            <a:ext cx="9987185" cy="5798740"/>
          </a:xfrm>
          <a:prstGeom prst="rect">
            <a:avLst/>
          </a:prstGeom>
        </p:spPr>
      </p:pic>
      <p:sp>
        <p:nvSpPr>
          <p:cNvPr id="2" name="TextBox 1">
            <a:extLst>
              <a:ext uri="{FF2B5EF4-FFF2-40B4-BE49-F238E27FC236}">
                <a16:creationId xmlns:a16="http://schemas.microsoft.com/office/drawing/2014/main" id="{E4B5D5C9-CA02-7473-81D5-9B47D70D1F73}"/>
              </a:ext>
            </a:extLst>
          </p:cNvPr>
          <p:cNvSpPr txBox="1"/>
          <p:nvPr/>
        </p:nvSpPr>
        <p:spPr>
          <a:xfrm>
            <a:off x="73387" y="412929"/>
            <a:ext cx="2679240" cy="646331"/>
          </a:xfrm>
          <a:prstGeom prst="rect">
            <a:avLst/>
          </a:prstGeom>
          <a:noFill/>
        </p:spPr>
        <p:txBody>
          <a:bodyPr wrap="square" rtlCol="0">
            <a:spAutoFit/>
          </a:bodyPr>
          <a:lstStyle/>
          <a:p>
            <a:r>
              <a:rPr lang="en-IN" sz="1800" b="1" dirty="0">
                <a:latin typeface="+mj-lt"/>
              </a:rPr>
              <a:t>Power BI Dashboard</a:t>
            </a:r>
          </a:p>
          <a:p>
            <a:endParaRPr lang="en-IN" dirty="0"/>
          </a:p>
        </p:txBody>
      </p:sp>
    </p:spTree>
    <p:extLst>
      <p:ext uri="{BB962C8B-B14F-4D97-AF65-F5344CB8AC3E}">
        <p14:creationId xmlns:p14="http://schemas.microsoft.com/office/powerpoint/2010/main" val="37581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10CCA39-EBC8-2361-0F21-A0082377ED03}"/>
              </a:ext>
            </a:extLst>
          </p:cNvPr>
          <p:cNvPicPr>
            <a:picLocks noChangeAspect="1"/>
          </p:cNvPicPr>
          <p:nvPr/>
        </p:nvPicPr>
        <p:blipFill>
          <a:blip r:embed="rId2"/>
          <a:stretch>
            <a:fillRect/>
          </a:stretch>
        </p:blipFill>
        <p:spPr>
          <a:xfrm>
            <a:off x="1824394" y="1187777"/>
            <a:ext cx="10299670" cy="5495827"/>
          </a:xfrm>
          <a:prstGeom prst="rect">
            <a:avLst/>
          </a:prstGeom>
        </p:spPr>
      </p:pic>
      <p:sp>
        <p:nvSpPr>
          <p:cNvPr id="2" name="TextBox 1">
            <a:extLst>
              <a:ext uri="{FF2B5EF4-FFF2-40B4-BE49-F238E27FC236}">
                <a16:creationId xmlns:a16="http://schemas.microsoft.com/office/drawing/2014/main" id="{A9A100E8-0F95-0B8B-22E1-C650DD5A80AC}"/>
              </a:ext>
            </a:extLst>
          </p:cNvPr>
          <p:cNvSpPr txBox="1"/>
          <p:nvPr/>
        </p:nvSpPr>
        <p:spPr>
          <a:xfrm>
            <a:off x="111094" y="658026"/>
            <a:ext cx="2384277" cy="646331"/>
          </a:xfrm>
          <a:prstGeom prst="rect">
            <a:avLst/>
          </a:prstGeom>
          <a:noFill/>
        </p:spPr>
        <p:txBody>
          <a:bodyPr wrap="square" rtlCol="0">
            <a:spAutoFit/>
          </a:bodyPr>
          <a:lstStyle/>
          <a:p>
            <a:r>
              <a:rPr lang="en-IN" sz="1800" b="1" dirty="0">
                <a:latin typeface="+mj-lt"/>
              </a:rPr>
              <a:t>Tableau Dashboard</a:t>
            </a:r>
          </a:p>
          <a:p>
            <a:endParaRPr lang="en-IN" dirty="0"/>
          </a:p>
        </p:txBody>
      </p:sp>
    </p:spTree>
    <p:extLst>
      <p:ext uri="{BB962C8B-B14F-4D97-AF65-F5344CB8AC3E}">
        <p14:creationId xmlns:p14="http://schemas.microsoft.com/office/powerpoint/2010/main" val="40518471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C33C0D9-BF63-33CC-E870-2E5BEC2EFA7A}"/>
              </a:ext>
            </a:extLst>
          </p:cNvPr>
          <p:cNvPicPr>
            <a:picLocks noChangeAspect="1"/>
          </p:cNvPicPr>
          <p:nvPr/>
        </p:nvPicPr>
        <p:blipFill>
          <a:blip r:embed="rId2"/>
          <a:stretch>
            <a:fillRect/>
          </a:stretch>
        </p:blipFill>
        <p:spPr>
          <a:xfrm>
            <a:off x="129550" y="1789385"/>
            <a:ext cx="1752845" cy="1524213"/>
          </a:xfrm>
          <a:prstGeom prst="rect">
            <a:avLst/>
          </a:prstGeom>
          <a:ln>
            <a:solidFill>
              <a:schemeClr val="tx1"/>
            </a:solidFill>
          </a:ln>
        </p:spPr>
      </p:pic>
      <p:pic>
        <p:nvPicPr>
          <p:cNvPr id="6" name="Picture 5">
            <a:extLst>
              <a:ext uri="{FF2B5EF4-FFF2-40B4-BE49-F238E27FC236}">
                <a16:creationId xmlns:a16="http://schemas.microsoft.com/office/drawing/2014/main" id="{58D05E95-29F8-6E10-9EEA-FFBDAE84A159}"/>
              </a:ext>
            </a:extLst>
          </p:cNvPr>
          <p:cNvPicPr>
            <a:picLocks noChangeAspect="1"/>
          </p:cNvPicPr>
          <p:nvPr/>
        </p:nvPicPr>
        <p:blipFill>
          <a:blip r:embed="rId3"/>
          <a:stretch>
            <a:fillRect/>
          </a:stretch>
        </p:blipFill>
        <p:spPr>
          <a:xfrm>
            <a:off x="2159767" y="1779859"/>
            <a:ext cx="1914792" cy="1095528"/>
          </a:xfrm>
          <a:prstGeom prst="rect">
            <a:avLst/>
          </a:prstGeom>
          <a:ln>
            <a:solidFill>
              <a:schemeClr val="tx1"/>
            </a:solidFill>
          </a:ln>
        </p:spPr>
      </p:pic>
      <p:sp>
        <p:nvSpPr>
          <p:cNvPr id="19" name="TextBox 18">
            <a:extLst>
              <a:ext uri="{FF2B5EF4-FFF2-40B4-BE49-F238E27FC236}">
                <a16:creationId xmlns:a16="http://schemas.microsoft.com/office/drawing/2014/main" id="{0CDEA0D3-EB71-A326-AE25-C31D76537231}"/>
              </a:ext>
            </a:extLst>
          </p:cNvPr>
          <p:cNvSpPr txBox="1"/>
          <p:nvPr/>
        </p:nvSpPr>
        <p:spPr>
          <a:xfrm>
            <a:off x="170903" y="1481608"/>
            <a:ext cx="1694707" cy="253916"/>
          </a:xfrm>
          <a:prstGeom prst="rect">
            <a:avLst/>
          </a:prstGeom>
          <a:noFill/>
        </p:spPr>
        <p:txBody>
          <a:bodyPr wrap="square" rtlCol="0">
            <a:spAutoFit/>
          </a:bodyPr>
          <a:lstStyle/>
          <a:p>
            <a:pPr algn="ctr"/>
            <a:r>
              <a:rPr lang="en-US" sz="1050" b="1" dirty="0"/>
              <a:t>Yearly Load Factor</a:t>
            </a:r>
            <a:endParaRPr lang="en-IN" sz="1050" b="1" dirty="0"/>
          </a:p>
        </p:txBody>
      </p:sp>
      <p:sp>
        <p:nvSpPr>
          <p:cNvPr id="20" name="TextBox 19">
            <a:extLst>
              <a:ext uri="{FF2B5EF4-FFF2-40B4-BE49-F238E27FC236}">
                <a16:creationId xmlns:a16="http://schemas.microsoft.com/office/drawing/2014/main" id="{76E3958A-961A-080F-7377-6DAB5A9534A9}"/>
              </a:ext>
            </a:extLst>
          </p:cNvPr>
          <p:cNvSpPr txBox="1"/>
          <p:nvPr/>
        </p:nvSpPr>
        <p:spPr>
          <a:xfrm>
            <a:off x="2163326" y="1456999"/>
            <a:ext cx="1694707" cy="253916"/>
          </a:xfrm>
          <a:prstGeom prst="rect">
            <a:avLst/>
          </a:prstGeom>
          <a:noFill/>
        </p:spPr>
        <p:txBody>
          <a:bodyPr wrap="square" rtlCol="0">
            <a:spAutoFit/>
          </a:bodyPr>
          <a:lstStyle/>
          <a:p>
            <a:pPr algn="ctr"/>
            <a:r>
              <a:rPr lang="en-US" sz="1050" b="1" dirty="0"/>
              <a:t>Quarterly Load Factor</a:t>
            </a:r>
            <a:endParaRPr lang="en-IN" sz="1050" b="1" dirty="0"/>
          </a:p>
        </p:txBody>
      </p:sp>
      <p:pic>
        <p:nvPicPr>
          <p:cNvPr id="8" name="Picture 7">
            <a:extLst>
              <a:ext uri="{FF2B5EF4-FFF2-40B4-BE49-F238E27FC236}">
                <a16:creationId xmlns:a16="http://schemas.microsoft.com/office/drawing/2014/main" id="{D1FA6CC3-98A7-4F24-5F47-097ACD8BD2A1}"/>
              </a:ext>
            </a:extLst>
          </p:cNvPr>
          <p:cNvPicPr>
            <a:picLocks noChangeAspect="1"/>
          </p:cNvPicPr>
          <p:nvPr/>
        </p:nvPicPr>
        <p:blipFill>
          <a:blip r:embed="rId4"/>
          <a:stretch>
            <a:fillRect/>
          </a:stretch>
        </p:blipFill>
        <p:spPr>
          <a:xfrm>
            <a:off x="4372274" y="1789385"/>
            <a:ext cx="1991003" cy="752580"/>
          </a:xfrm>
          <a:prstGeom prst="rect">
            <a:avLst/>
          </a:prstGeom>
          <a:ln>
            <a:solidFill>
              <a:schemeClr val="tx1"/>
            </a:solidFill>
          </a:ln>
        </p:spPr>
      </p:pic>
      <p:sp>
        <p:nvSpPr>
          <p:cNvPr id="9" name="TextBox 8">
            <a:extLst>
              <a:ext uri="{FF2B5EF4-FFF2-40B4-BE49-F238E27FC236}">
                <a16:creationId xmlns:a16="http://schemas.microsoft.com/office/drawing/2014/main" id="{A4D7C483-A109-A614-8AC7-F423D1B61BD8}"/>
              </a:ext>
            </a:extLst>
          </p:cNvPr>
          <p:cNvSpPr txBox="1"/>
          <p:nvPr/>
        </p:nvSpPr>
        <p:spPr>
          <a:xfrm>
            <a:off x="4372274" y="1472082"/>
            <a:ext cx="1694707" cy="253916"/>
          </a:xfrm>
          <a:prstGeom prst="rect">
            <a:avLst/>
          </a:prstGeom>
          <a:noFill/>
        </p:spPr>
        <p:txBody>
          <a:bodyPr wrap="square" rtlCol="0">
            <a:spAutoFit/>
          </a:bodyPr>
          <a:lstStyle/>
          <a:p>
            <a:pPr algn="ctr"/>
            <a:r>
              <a:rPr lang="en-US" sz="1050" b="1" dirty="0"/>
              <a:t>Load Factor by week</a:t>
            </a:r>
            <a:endParaRPr lang="en-IN" sz="1050" b="1" dirty="0"/>
          </a:p>
        </p:txBody>
      </p:sp>
      <p:pic>
        <p:nvPicPr>
          <p:cNvPr id="10" name="Picture 9">
            <a:extLst>
              <a:ext uri="{FF2B5EF4-FFF2-40B4-BE49-F238E27FC236}">
                <a16:creationId xmlns:a16="http://schemas.microsoft.com/office/drawing/2014/main" id="{E93944AD-5895-2509-5FFC-BA0747967774}"/>
              </a:ext>
            </a:extLst>
          </p:cNvPr>
          <p:cNvPicPr>
            <a:picLocks noChangeAspect="1"/>
          </p:cNvPicPr>
          <p:nvPr/>
        </p:nvPicPr>
        <p:blipFill>
          <a:blip r:embed="rId5"/>
          <a:stretch>
            <a:fillRect/>
          </a:stretch>
        </p:blipFill>
        <p:spPr>
          <a:xfrm>
            <a:off x="111494" y="3901020"/>
            <a:ext cx="2133898" cy="2753109"/>
          </a:xfrm>
          <a:prstGeom prst="rect">
            <a:avLst/>
          </a:prstGeom>
          <a:ln>
            <a:solidFill>
              <a:schemeClr val="tx1"/>
            </a:solidFill>
          </a:ln>
        </p:spPr>
      </p:pic>
      <p:sp>
        <p:nvSpPr>
          <p:cNvPr id="24" name="TextBox 23">
            <a:extLst>
              <a:ext uri="{FF2B5EF4-FFF2-40B4-BE49-F238E27FC236}">
                <a16:creationId xmlns:a16="http://schemas.microsoft.com/office/drawing/2014/main" id="{2D0C23BC-C893-9567-EDE9-2859306CA68F}"/>
              </a:ext>
            </a:extLst>
          </p:cNvPr>
          <p:cNvSpPr txBox="1"/>
          <p:nvPr/>
        </p:nvSpPr>
        <p:spPr>
          <a:xfrm>
            <a:off x="129550" y="3616433"/>
            <a:ext cx="2030217" cy="253916"/>
          </a:xfrm>
          <a:prstGeom prst="rect">
            <a:avLst/>
          </a:prstGeom>
          <a:noFill/>
        </p:spPr>
        <p:txBody>
          <a:bodyPr wrap="square" rtlCol="0">
            <a:spAutoFit/>
          </a:bodyPr>
          <a:lstStyle/>
          <a:p>
            <a:pPr algn="ctr"/>
            <a:r>
              <a:rPr lang="en-US" sz="1050" b="1" dirty="0"/>
              <a:t>Month wise Load Factor</a:t>
            </a:r>
            <a:endParaRPr lang="en-IN" sz="1050" b="1" dirty="0"/>
          </a:p>
        </p:txBody>
      </p:sp>
      <p:pic>
        <p:nvPicPr>
          <p:cNvPr id="18" name="Picture 17">
            <a:extLst>
              <a:ext uri="{FF2B5EF4-FFF2-40B4-BE49-F238E27FC236}">
                <a16:creationId xmlns:a16="http://schemas.microsoft.com/office/drawing/2014/main" id="{4A9698A2-FEA0-BEA3-3EF0-A0F964DB0FAF}"/>
              </a:ext>
            </a:extLst>
          </p:cNvPr>
          <p:cNvPicPr>
            <a:picLocks noChangeAspect="1"/>
          </p:cNvPicPr>
          <p:nvPr/>
        </p:nvPicPr>
        <p:blipFill>
          <a:blip r:embed="rId6"/>
          <a:stretch>
            <a:fillRect/>
          </a:stretch>
        </p:blipFill>
        <p:spPr>
          <a:xfrm>
            <a:off x="9525617" y="3238886"/>
            <a:ext cx="2381582" cy="3353268"/>
          </a:xfrm>
          <a:prstGeom prst="rect">
            <a:avLst/>
          </a:prstGeom>
          <a:ln>
            <a:solidFill>
              <a:schemeClr val="tx1"/>
            </a:solidFill>
          </a:ln>
        </p:spPr>
      </p:pic>
      <p:sp>
        <p:nvSpPr>
          <p:cNvPr id="26" name="TextBox 25">
            <a:extLst>
              <a:ext uri="{FF2B5EF4-FFF2-40B4-BE49-F238E27FC236}">
                <a16:creationId xmlns:a16="http://schemas.microsoft.com/office/drawing/2014/main" id="{DA088E4C-A90B-2C00-5C63-DA7E3B16EFB5}"/>
              </a:ext>
            </a:extLst>
          </p:cNvPr>
          <p:cNvSpPr txBox="1"/>
          <p:nvPr/>
        </p:nvSpPr>
        <p:spPr>
          <a:xfrm>
            <a:off x="9377148" y="2875387"/>
            <a:ext cx="2487455" cy="253916"/>
          </a:xfrm>
          <a:prstGeom prst="rect">
            <a:avLst/>
          </a:prstGeom>
          <a:noFill/>
        </p:spPr>
        <p:txBody>
          <a:bodyPr wrap="square" rtlCol="0">
            <a:spAutoFit/>
          </a:bodyPr>
          <a:lstStyle/>
          <a:p>
            <a:pPr algn="ctr"/>
            <a:r>
              <a:rPr lang="en-US" sz="1050" b="1" dirty="0"/>
              <a:t>No of Flights by Distance Interval</a:t>
            </a:r>
            <a:endParaRPr lang="en-IN" sz="1050" b="1" dirty="0"/>
          </a:p>
        </p:txBody>
      </p:sp>
      <p:pic>
        <p:nvPicPr>
          <p:cNvPr id="12" name="Picture 11">
            <a:extLst>
              <a:ext uri="{FF2B5EF4-FFF2-40B4-BE49-F238E27FC236}">
                <a16:creationId xmlns:a16="http://schemas.microsoft.com/office/drawing/2014/main" id="{8276CA70-7B45-4CC2-8B69-B145617CDFB4}"/>
              </a:ext>
            </a:extLst>
          </p:cNvPr>
          <p:cNvPicPr>
            <a:picLocks noChangeAspect="1"/>
          </p:cNvPicPr>
          <p:nvPr/>
        </p:nvPicPr>
        <p:blipFill>
          <a:blip r:embed="rId7"/>
          <a:stretch>
            <a:fillRect/>
          </a:stretch>
        </p:blipFill>
        <p:spPr>
          <a:xfrm>
            <a:off x="5885550" y="4316037"/>
            <a:ext cx="3121688" cy="2200387"/>
          </a:xfrm>
          <a:prstGeom prst="rect">
            <a:avLst/>
          </a:prstGeom>
          <a:ln>
            <a:solidFill>
              <a:schemeClr val="tx1"/>
            </a:solidFill>
          </a:ln>
        </p:spPr>
      </p:pic>
      <p:sp>
        <p:nvSpPr>
          <p:cNvPr id="21" name="TextBox 20">
            <a:extLst>
              <a:ext uri="{FF2B5EF4-FFF2-40B4-BE49-F238E27FC236}">
                <a16:creationId xmlns:a16="http://schemas.microsoft.com/office/drawing/2014/main" id="{952A435E-C67C-DFD3-C725-819D4BA69654}"/>
              </a:ext>
            </a:extLst>
          </p:cNvPr>
          <p:cNvSpPr txBox="1"/>
          <p:nvPr/>
        </p:nvSpPr>
        <p:spPr>
          <a:xfrm>
            <a:off x="6006280" y="4014057"/>
            <a:ext cx="2487455" cy="253916"/>
          </a:xfrm>
          <a:prstGeom prst="rect">
            <a:avLst/>
          </a:prstGeom>
          <a:noFill/>
        </p:spPr>
        <p:txBody>
          <a:bodyPr wrap="square" rtlCol="0">
            <a:spAutoFit/>
          </a:bodyPr>
          <a:lstStyle/>
          <a:p>
            <a:pPr algn="ctr"/>
            <a:r>
              <a:rPr lang="en-US" sz="1050" b="1" dirty="0"/>
              <a:t>Top 10 Carrier Names</a:t>
            </a:r>
            <a:endParaRPr lang="en-IN" sz="1050" b="1" dirty="0"/>
          </a:p>
        </p:txBody>
      </p:sp>
      <p:pic>
        <p:nvPicPr>
          <p:cNvPr id="11" name="Picture 10">
            <a:extLst>
              <a:ext uri="{FF2B5EF4-FFF2-40B4-BE49-F238E27FC236}">
                <a16:creationId xmlns:a16="http://schemas.microsoft.com/office/drawing/2014/main" id="{41E05F62-17D2-B0BA-77D1-443727BB4783}"/>
              </a:ext>
            </a:extLst>
          </p:cNvPr>
          <p:cNvPicPr>
            <a:picLocks noChangeAspect="1"/>
          </p:cNvPicPr>
          <p:nvPr/>
        </p:nvPicPr>
        <p:blipFill>
          <a:blip r:embed="rId8"/>
          <a:stretch>
            <a:fillRect/>
          </a:stretch>
        </p:blipFill>
        <p:spPr>
          <a:xfrm>
            <a:off x="2367295" y="4316037"/>
            <a:ext cx="3145608" cy="2205720"/>
          </a:xfrm>
          <a:prstGeom prst="rect">
            <a:avLst/>
          </a:prstGeom>
          <a:ln>
            <a:solidFill>
              <a:schemeClr val="tx1"/>
            </a:solidFill>
          </a:ln>
        </p:spPr>
      </p:pic>
      <p:sp>
        <p:nvSpPr>
          <p:cNvPr id="25" name="TextBox 24">
            <a:extLst>
              <a:ext uri="{FF2B5EF4-FFF2-40B4-BE49-F238E27FC236}">
                <a16:creationId xmlns:a16="http://schemas.microsoft.com/office/drawing/2014/main" id="{17AE2A1E-5958-83FA-56BE-74F1F276B938}"/>
              </a:ext>
            </a:extLst>
          </p:cNvPr>
          <p:cNvSpPr txBox="1"/>
          <p:nvPr/>
        </p:nvSpPr>
        <p:spPr>
          <a:xfrm>
            <a:off x="2354376" y="3995162"/>
            <a:ext cx="2620023" cy="253916"/>
          </a:xfrm>
          <a:prstGeom prst="rect">
            <a:avLst/>
          </a:prstGeom>
          <a:noFill/>
        </p:spPr>
        <p:txBody>
          <a:bodyPr wrap="square" rtlCol="0">
            <a:spAutoFit/>
          </a:bodyPr>
          <a:lstStyle/>
          <a:p>
            <a:pPr algn="ctr"/>
            <a:r>
              <a:rPr lang="en-US" sz="1050" b="1" dirty="0"/>
              <a:t>Top 10 Carrier Names</a:t>
            </a:r>
            <a:endParaRPr lang="en-IN" sz="1050" b="1" dirty="0"/>
          </a:p>
        </p:txBody>
      </p:sp>
      <p:pic>
        <p:nvPicPr>
          <p:cNvPr id="14" name="Picture 13">
            <a:extLst>
              <a:ext uri="{FF2B5EF4-FFF2-40B4-BE49-F238E27FC236}">
                <a16:creationId xmlns:a16="http://schemas.microsoft.com/office/drawing/2014/main" id="{943104C0-11D6-17EC-53E0-41ED7E96B0BA}"/>
              </a:ext>
            </a:extLst>
          </p:cNvPr>
          <p:cNvPicPr>
            <a:picLocks noChangeAspect="1"/>
          </p:cNvPicPr>
          <p:nvPr/>
        </p:nvPicPr>
        <p:blipFill>
          <a:blip r:embed="rId9"/>
          <a:stretch>
            <a:fillRect/>
          </a:stretch>
        </p:blipFill>
        <p:spPr>
          <a:xfrm>
            <a:off x="6499156" y="1725998"/>
            <a:ext cx="2940836" cy="1942335"/>
          </a:xfrm>
          <a:prstGeom prst="rect">
            <a:avLst/>
          </a:prstGeom>
          <a:ln>
            <a:solidFill>
              <a:schemeClr val="tx1"/>
            </a:solidFill>
          </a:ln>
        </p:spPr>
      </p:pic>
      <p:sp>
        <p:nvSpPr>
          <p:cNvPr id="23" name="TextBox 22">
            <a:extLst>
              <a:ext uri="{FF2B5EF4-FFF2-40B4-BE49-F238E27FC236}">
                <a16:creationId xmlns:a16="http://schemas.microsoft.com/office/drawing/2014/main" id="{C1045979-0475-7D88-0520-22BD434478F4}"/>
              </a:ext>
            </a:extLst>
          </p:cNvPr>
          <p:cNvSpPr txBox="1"/>
          <p:nvPr/>
        </p:nvSpPr>
        <p:spPr>
          <a:xfrm>
            <a:off x="6692664" y="1453813"/>
            <a:ext cx="1708227" cy="253916"/>
          </a:xfrm>
          <a:prstGeom prst="rect">
            <a:avLst/>
          </a:prstGeom>
          <a:noFill/>
        </p:spPr>
        <p:txBody>
          <a:bodyPr wrap="square" rtlCol="0">
            <a:spAutoFit/>
          </a:bodyPr>
          <a:lstStyle/>
          <a:p>
            <a:pPr algn="ctr"/>
            <a:r>
              <a:rPr lang="en-US" sz="1050" b="1" dirty="0"/>
              <a:t>Top 10 Routes</a:t>
            </a:r>
            <a:endParaRPr lang="en-IN" sz="1050" b="1" dirty="0"/>
          </a:p>
        </p:txBody>
      </p:sp>
      <p:sp>
        <p:nvSpPr>
          <p:cNvPr id="17" name="TextBox 16">
            <a:extLst>
              <a:ext uri="{FF2B5EF4-FFF2-40B4-BE49-F238E27FC236}">
                <a16:creationId xmlns:a16="http://schemas.microsoft.com/office/drawing/2014/main" id="{504706E4-813F-A30A-D538-DCDEB6378E84}"/>
              </a:ext>
            </a:extLst>
          </p:cNvPr>
          <p:cNvSpPr txBox="1"/>
          <p:nvPr/>
        </p:nvSpPr>
        <p:spPr>
          <a:xfrm>
            <a:off x="0" y="455975"/>
            <a:ext cx="3213219" cy="646331"/>
          </a:xfrm>
          <a:prstGeom prst="rect">
            <a:avLst/>
          </a:prstGeom>
          <a:noFill/>
        </p:spPr>
        <p:txBody>
          <a:bodyPr wrap="square" rtlCol="0">
            <a:spAutoFit/>
          </a:bodyPr>
          <a:lstStyle/>
          <a:p>
            <a:r>
              <a:rPr lang="en-IN" sz="1800" b="1" dirty="0">
                <a:latin typeface="+mj-lt"/>
              </a:rPr>
              <a:t>MySQL Queries Outputs</a:t>
            </a:r>
          </a:p>
          <a:p>
            <a:endParaRPr lang="en-IN" dirty="0"/>
          </a:p>
        </p:txBody>
      </p:sp>
    </p:spTree>
    <p:extLst>
      <p:ext uri="{BB962C8B-B14F-4D97-AF65-F5344CB8AC3E}">
        <p14:creationId xmlns:p14="http://schemas.microsoft.com/office/powerpoint/2010/main" val="2246721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546A0-34C8-067A-BDE5-0BF1C06AB81E}"/>
              </a:ext>
            </a:extLst>
          </p:cNvPr>
          <p:cNvSpPr>
            <a:spLocks noGrp="1"/>
          </p:cNvSpPr>
          <p:nvPr>
            <p:ph type="title"/>
          </p:nvPr>
        </p:nvSpPr>
        <p:spPr/>
        <p:txBody>
          <a:bodyPr/>
          <a:lstStyle/>
          <a:p>
            <a:pPr algn="ctr"/>
            <a:r>
              <a:rPr lang="en-US" dirty="0"/>
              <a:t>Recommendations</a:t>
            </a:r>
            <a:endParaRPr lang="en-IN" dirty="0"/>
          </a:p>
        </p:txBody>
      </p:sp>
      <p:sp>
        <p:nvSpPr>
          <p:cNvPr id="3" name="Content Placeholder 2">
            <a:extLst>
              <a:ext uri="{FF2B5EF4-FFF2-40B4-BE49-F238E27FC236}">
                <a16:creationId xmlns:a16="http://schemas.microsoft.com/office/drawing/2014/main" id="{85A456D2-B2E9-9290-4D00-94398FBC17BC}"/>
              </a:ext>
            </a:extLst>
          </p:cNvPr>
          <p:cNvSpPr>
            <a:spLocks noGrp="1"/>
          </p:cNvSpPr>
          <p:nvPr>
            <p:ph idx="1"/>
          </p:nvPr>
        </p:nvSpPr>
        <p:spPr>
          <a:xfrm>
            <a:off x="685800" y="2194560"/>
            <a:ext cx="10820400" cy="4465547"/>
          </a:xfrm>
        </p:spPr>
        <p:txBody>
          <a:bodyPr>
            <a:normAutofit fontScale="92500" lnSpcReduction="10000"/>
          </a:bodyPr>
          <a:lstStyle/>
          <a:p>
            <a:pPr algn="just">
              <a:lnSpc>
                <a:spcPct val="150000"/>
              </a:lnSpc>
            </a:pPr>
            <a:r>
              <a:rPr lang="en-US" b="1" dirty="0"/>
              <a:t>Optimize Flight Routes  </a:t>
            </a:r>
            <a:r>
              <a:rPr lang="en-US" dirty="0"/>
              <a:t>: Utilize insights from top routes and flights to optimize schedules and resources allocation.</a:t>
            </a:r>
          </a:p>
          <a:p>
            <a:pPr algn="just">
              <a:lnSpc>
                <a:spcPct val="150000"/>
              </a:lnSpc>
            </a:pPr>
            <a:r>
              <a:rPr lang="en-US" b="1" dirty="0"/>
              <a:t>Enhance Load Factor </a:t>
            </a:r>
            <a:r>
              <a:rPr lang="en-US" dirty="0"/>
              <a:t>: Leverage load factor analysis to  identify trends and implement strategies for increased </a:t>
            </a:r>
            <a:r>
              <a:rPr lang="en-US" dirty="0" err="1"/>
              <a:t>effiency</a:t>
            </a:r>
            <a:r>
              <a:rPr lang="en-US" dirty="0"/>
              <a:t>.</a:t>
            </a:r>
          </a:p>
          <a:p>
            <a:pPr algn="just">
              <a:lnSpc>
                <a:spcPct val="150000"/>
              </a:lnSpc>
            </a:pPr>
            <a:r>
              <a:rPr lang="en-IN" b="1" dirty="0"/>
              <a:t>Strategic Carrier Partnerships </a:t>
            </a:r>
            <a:r>
              <a:rPr lang="en-IN" dirty="0"/>
              <a:t>: Collaborate with top carriers to maximize passenger transportation and enhance overall performance.</a:t>
            </a:r>
          </a:p>
          <a:p>
            <a:pPr algn="just">
              <a:lnSpc>
                <a:spcPct val="150000"/>
              </a:lnSpc>
            </a:pPr>
            <a:r>
              <a:rPr lang="en-IN" b="1" dirty="0"/>
              <a:t>Resource Allocation </a:t>
            </a:r>
            <a:r>
              <a:rPr lang="en-IN" dirty="0"/>
              <a:t>: Allocate resources strategically based on flight schedules and passenger volume data. This efficient operations and minimizes wait times at airports with high passenger traffic.</a:t>
            </a:r>
          </a:p>
        </p:txBody>
      </p:sp>
    </p:spTree>
    <p:extLst>
      <p:ext uri="{BB962C8B-B14F-4D97-AF65-F5344CB8AC3E}">
        <p14:creationId xmlns:p14="http://schemas.microsoft.com/office/powerpoint/2010/main" val="503964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06C53-F671-5952-DDDF-9283B833BE1F}"/>
              </a:ext>
            </a:extLst>
          </p:cNvPr>
          <p:cNvSpPr>
            <a:spLocks noGrp="1"/>
          </p:cNvSpPr>
          <p:nvPr>
            <p:ph type="title"/>
          </p:nvPr>
        </p:nvSpPr>
        <p:spPr/>
        <p:txBody>
          <a:bodyPr/>
          <a:lstStyle/>
          <a:p>
            <a:pPr algn="ctr"/>
            <a:r>
              <a:rPr lang="en-US" dirty="0"/>
              <a:t>Conclusions</a:t>
            </a:r>
            <a:endParaRPr lang="en-IN" dirty="0"/>
          </a:p>
        </p:txBody>
      </p:sp>
      <p:sp>
        <p:nvSpPr>
          <p:cNvPr id="3" name="Content Placeholder 2">
            <a:extLst>
              <a:ext uri="{FF2B5EF4-FFF2-40B4-BE49-F238E27FC236}">
                <a16:creationId xmlns:a16="http://schemas.microsoft.com/office/drawing/2014/main" id="{E7B32CFA-60EB-6B6C-5D3F-3DFA36F0E76A}"/>
              </a:ext>
            </a:extLst>
          </p:cNvPr>
          <p:cNvSpPr>
            <a:spLocks noGrp="1"/>
          </p:cNvSpPr>
          <p:nvPr>
            <p:ph idx="1"/>
          </p:nvPr>
        </p:nvSpPr>
        <p:spPr/>
        <p:txBody>
          <a:bodyPr/>
          <a:lstStyle/>
          <a:p>
            <a:pPr marL="0" indent="0" algn="just">
              <a:lnSpc>
                <a:spcPct val="150000"/>
              </a:lnSpc>
              <a:buNone/>
            </a:pPr>
            <a:r>
              <a:rPr lang="en-US" dirty="0"/>
              <a:t>High Cloud Airlines empowers the activation industry with actionable insights efficiency and strategic decision-making. The presented KPIs offer into the vast potential for improvement and growth within the industry. By harnessing the power of data, we can drive positive changes, ensuring a brighter future for High Cloud Analysis and its partners in the aviation sector.</a:t>
            </a:r>
            <a:endParaRPr lang="en-IN" dirty="0"/>
          </a:p>
        </p:txBody>
      </p:sp>
    </p:spTree>
    <p:extLst>
      <p:ext uri="{BB962C8B-B14F-4D97-AF65-F5344CB8AC3E}">
        <p14:creationId xmlns:p14="http://schemas.microsoft.com/office/powerpoint/2010/main" val="23483100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C7DBB-602A-6B40-B009-0DAD58E02C71}"/>
              </a:ext>
            </a:extLst>
          </p:cNvPr>
          <p:cNvSpPr>
            <a:spLocks noGrp="1"/>
          </p:cNvSpPr>
          <p:nvPr>
            <p:ph type="title"/>
          </p:nvPr>
        </p:nvSpPr>
        <p:spPr>
          <a:xfrm>
            <a:off x="838200" y="3022600"/>
            <a:ext cx="10515600" cy="1325563"/>
          </a:xfrm>
        </p:spPr>
        <p:txBody>
          <a:bodyPr/>
          <a:lstStyle/>
          <a:p>
            <a:r>
              <a:rPr lang="en-US" dirty="0"/>
              <a:t>Thank You</a:t>
            </a:r>
            <a:endParaRPr lang="en-IN" dirty="0"/>
          </a:p>
        </p:txBody>
      </p:sp>
    </p:spTree>
    <p:extLst>
      <p:ext uri="{BB962C8B-B14F-4D97-AF65-F5344CB8AC3E}">
        <p14:creationId xmlns:p14="http://schemas.microsoft.com/office/powerpoint/2010/main" val="1088721255"/>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C4220D"/>
      </a:accent1>
      <a:accent2>
        <a:srgbClr val="EB7712"/>
      </a:accent2>
      <a:accent3>
        <a:srgbClr val="ECBD31"/>
      </a:accent3>
      <a:accent4>
        <a:srgbClr val="92CE4A"/>
      </a:accent4>
      <a:accent5>
        <a:srgbClr val="50CFB4"/>
      </a:accent5>
      <a:accent6>
        <a:srgbClr val="0D8EC5"/>
      </a:accent6>
      <a:hlink>
        <a:srgbClr val="EA5A0C"/>
      </a:hlink>
      <a:folHlink>
        <a:srgbClr val="F09D3A"/>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FE1EB5C7-81A8-4CBA-AE6E-B3BF73DC3895}"/>
    </a:ext>
  </a:extLst>
</a:theme>
</file>

<file path=docProps/app.xml><?xml version="1.0" encoding="utf-8"?>
<Properties xmlns="http://schemas.openxmlformats.org/officeDocument/2006/extended-properties" xmlns:vt="http://schemas.openxmlformats.org/officeDocument/2006/docPropsVTypes">
  <Template>TM04033937[[fn=Vapor Trail]]</Template>
  <TotalTime>1240</TotalTime>
  <Words>465</Words>
  <Application>Microsoft Office PowerPoint</Application>
  <PresentationFormat>Widescreen</PresentationFormat>
  <Paragraphs>61</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Century Gothic</vt:lpstr>
      <vt:lpstr>Google Sans</vt:lpstr>
      <vt:lpstr>Vapor Trail</vt:lpstr>
      <vt:lpstr>P1067 High Cloud Airline Analysis</vt:lpstr>
      <vt:lpstr>Our Team Members</vt:lpstr>
      <vt:lpstr>Contents</vt:lpstr>
      <vt:lpstr>Objective</vt:lpstr>
      <vt:lpstr>Business Overview</vt:lpstr>
      <vt:lpstr>Project Scope</vt:lpstr>
      <vt:lpstr>Data Model Challengers</vt:lpstr>
      <vt:lpstr>Dashboards</vt:lpstr>
      <vt:lpstr>PowerPoint Presentation</vt:lpstr>
      <vt:lpstr>PowerPoint Presentation</vt:lpstr>
      <vt:lpstr>PowerPoint Presentation</vt:lpstr>
      <vt:lpstr>PowerPoint Presentation</vt:lpstr>
      <vt:lpstr>Recommendations</vt:lpstr>
      <vt:lpstr>Conclusions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Excel R</dc:creator>
  <cp:lastModifiedBy>Excel R</cp:lastModifiedBy>
  <cp:revision>3</cp:revision>
  <dcterms:created xsi:type="dcterms:W3CDTF">2025-12-06T11:15:31Z</dcterms:created>
  <dcterms:modified xsi:type="dcterms:W3CDTF">2025-12-10T05:19:01Z</dcterms:modified>
</cp:coreProperties>
</file>